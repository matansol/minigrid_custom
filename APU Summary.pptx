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57" r:id="rId5"/>
    <p:sldId id="259" r:id="rId6"/>
    <p:sldId id="260" r:id="rId7"/>
    <p:sldId id="261" r:id="rId8"/>
    <p:sldId id="265" r:id="rId9"/>
    <p:sldId id="266" r:id="rId1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3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3A26-1555-4BD3-960B-637A8C3E9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13466-9448-4957-AB0E-F043DAE40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13709-7F50-415F-9BD3-C5AFF976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E2A92-2B7F-4A79-A038-0386E5A6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03A33-0D7C-4655-9114-860119C3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495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0030-FEA4-45F8-BF91-71ADFCF4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EE6E-BAA7-46A3-8A75-BBE7BE446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1B13-9FCB-45F6-893B-ED822252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1A08C-A031-4A28-B4F6-6CA031DC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3662D-5AF7-40AA-B8C6-1303B713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276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D7CD-DDD9-41F6-8B26-6F35696BC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1DAE4-8395-467A-9D78-EF61D2241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DDCA-252D-4603-91E2-4C765CA9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C9A49-0982-4C14-BFEE-1E10AF30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32E60-88A2-4BBB-B002-C5966A95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190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C915-165F-431A-AD77-9C1D2FAB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30994-DA04-4ED3-98AB-65D29B2CF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A6C2F-489D-4283-98D1-8E778616D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7F72E-A314-44CC-9DB2-58B6DE0E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59CDA-984D-46A4-800C-200A1DA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C5218-610A-43FF-9C5B-8F71F34C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386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C868-B41B-43C6-88EF-ED6B2591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9780B-560D-4791-A278-4AFF44076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D8311-247E-4D68-99A5-E2B51E5CA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D60C4-B41A-4B45-99BA-AF40E6EF1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53758-ED9D-4158-87AD-F22F5B096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41A18-ECE1-416F-9654-9170252B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DE989-070C-4A6F-BEF0-65DAAC05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8FF05-E0BD-4B8D-B29F-4AF524A1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231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49DF-3D05-4832-8447-4AF962EA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CC279-E578-4A54-8D1B-21C98670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F8DF6-1D65-42EA-B66D-1BDE11B1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4BF9F-D12C-43D6-B9AB-CFEC17CD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061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B33A5-1A8B-4B0F-80CB-F72DD50D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DD73B-0B60-4576-8A7A-ACCBF6F2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1A05-67BB-4D16-8762-7D5F68D5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081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2E05-F8C3-4B63-AAFA-276FE6FF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EC7B9-31F3-456C-BC67-B9B081B23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5562A-84B1-4513-A603-566AD7074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19BEB-CBDF-4E35-B09F-8C080943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8A409-79F0-4BE1-AAED-27992BB3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5A85E-F99A-4D6C-B07C-80170962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678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97D5-FD10-49B9-8AAC-892A74B1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A904F-EB05-4EA9-9156-AE7DE103F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84500-7991-46D2-BE13-7C113AF0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E890C-75FE-4451-9C04-A5BF819B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E236F-E283-4A39-9EE8-38C6B03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FC846-45A8-42D8-9DF3-718C3B0B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264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1701-3CAB-4DAB-8262-57CEC75C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D334F-7F35-48AB-B0D9-C2EC09504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CC40-ED94-4A13-B32A-CC6A4BE5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D3404-5C95-4850-B667-8309D1DF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5518-E8E1-4377-96EF-CE1FF40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983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EE97D-C9F2-4E06-8CF5-98111CBE6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5D578-4213-46D3-BF9C-55F5CA658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BA1A-843C-4390-AE2F-56D1CF9B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C89E2-5623-4076-9BF5-49FEB3FA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0CB8-C3A0-47B6-9969-3E30EE15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757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E507D5-24A8-4DDF-ABB0-6D97E656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A7371-4386-445D-8D4B-9B79A0B49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C5AF6-DD88-43B8-B966-1D776FD12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2D09-5735-47BD-840F-250363EE1DDB}" type="datetimeFigureOut">
              <a:rPr lang="en-IL" smtClean="0"/>
              <a:t>26/10/2025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1B469-4B16-4857-9584-42479D692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105C4-059D-42CC-A774-18CD1FDA3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F9BBF-20D3-4BD2-A82C-784BAD58E2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764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7EAD8-2132-4378-9F9C-C6AF7428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046" y="727602"/>
            <a:ext cx="11144473" cy="1672167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Assessing Policy Updates: Toward Trust-Preserving Intelligent User Interfaces</a:t>
            </a:r>
            <a:endParaRPr lang="en-IL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2AD2F-6CAD-4994-89D8-C32C3E335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405" y="3548753"/>
            <a:ext cx="4521138" cy="1324303"/>
          </a:xfrm>
        </p:spPr>
        <p:txBody>
          <a:bodyPr anchor="t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Matan Solomon</a:t>
            </a:r>
          </a:p>
          <a:p>
            <a:pPr algn="l"/>
            <a:r>
              <a:rPr lang="en-US" sz="2000" dirty="0" err="1">
                <a:solidFill>
                  <a:srgbClr val="FFFFFF"/>
                </a:solidFill>
              </a:rPr>
              <a:t>Ofra</a:t>
            </a:r>
            <a:r>
              <a:rPr lang="en-US" sz="2000" dirty="0">
                <a:solidFill>
                  <a:srgbClr val="FFFFFF"/>
                </a:solidFill>
              </a:rPr>
              <a:t> Amir 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Omer Ben-</a:t>
            </a:r>
            <a:r>
              <a:rPr lang="en-US" sz="2000" dirty="0" err="1">
                <a:solidFill>
                  <a:srgbClr val="FFFFFF"/>
                </a:solidFill>
              </a:rPr>
              <a:t>Porat</a:t>
            </a:r>
            <a:endParaRPr lang="en-IL" sz="2000" dirty="0">
              <a:solidFill>
                <a:srgbClr val="FFFFFF"/>
              </a:solidFill>
            </a:endParaRP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69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38DB5-E85C-44CD-885B-701EFF3D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Research Questions</a:t>
            </a:r>
            <a:endParaRPr lang="en-IL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0E070-BAD3-4D6F-AA98-71E9CC68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2" y="2470180"/>
            <a:ext cx="10312488" cy="3639450"/>
          </a:xfrm>
        </p:spPr>
        <p:txBody>
          <a:bodyPr anchor="ctr">
            <a:normAutofit/>
          </a:bodyPr>
          <a:lstStyle/>
          <a:p>
            <a:r>
              <a:rPr lang="en-US" sz="2400" u="sng" dirty="0"/>
              <a:t>RQ1: </a:t>
            </a:r>
            <a:r>
              <a:rPr lang="en-US" sz="2400" dirty="0"/>
              <a:t>How do different demonstration strategies affect users’ ability to determine whether an update improved the agent’s policy, both in the same training context and across novel contexts?</a:t>
            </a:r>
          </a:p>
          <a:p>
            <a:endParaRPr lang="en-US" sz="2400" dirty="0"/>
          </a:p>
          <a:p>
            <a:r>
              <a:rPr lang="en-US" sz="2400" u="sng" dirty="0"/>
              <a:t>RQ2:</a:t>
            </a:r>
            <a:r>
              <a:rPr lang="en-US" sz="2400" dirty="0"/>
              <a:t> How do these strategies influence users’ broader judgments, including trust calibration and beliefs about the agent’s general capabilities?</a:t>
            </a:r>
            <a:endParaRPr lang="en-IL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0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07361-B2CF-4D60-8C2A-9157DAB4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Preference-Based Reinforcement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C1314B-BEC9-4603-A63A-17AB845B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73" y="1966293"/>
            <a:ext cx="1023485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4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935B5-2B16-456B-AA10-12C85292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MiniGrid</a:t>
            </a:r>
            <a:r>
              <a:rPr lang="en-US" sz="4000" dirty="0">
                <a:solidFill>
                  <a:srgbClr val="FFFFFF"/>
                </a:solidFill>
              </a:rPr>
              <a:t> Environment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1FC8A-2A0E-4C2B-840C-59CB7A351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714017"/>
            <a:ext cx="5470597" cy="5073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1FA81F-1A9F-46E3-84AA-CE5B91CA0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059" y="1900238"/>
            <a:ext cx="2115107" cy="2715208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02E2BD8A-4806-48E2-9881-B53AD4A30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779016"/>
            <a:ext cx="1802384" cy="180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068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365-748B-47B8-819B-E95A98CD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528" y="517525"/>
            <a:ext cx="4838701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Policy Demonstration</a:t>
            </a:r>
            <a:endParaRPr lang="en-IL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E7A49-D958-4C51-BBBF-5906E69AD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1" y="1843088"/>
            <a:ext cx="5242831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B04944-62D5-42D4-9FDE-C2ECFD01B113}"/>
              </a:ext>
            </a:extLst>
          </p:cNvPr>
          <p:cNvSpPr txBox="1">
            <a:spLocks/>
          </p:cNvSpPr>
          <p:nvPr/>
        </p:nvSpPr>
        <p:spPr>
          <a:xfrm>
            <a:off x="962025" y="584200"/>
            <a:ext cx="3895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User Feedback</a:t>
            </a:r>
            <a:endParaRPr lang="en-IL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E9EFFE-9FC6-4147-9985-81490933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160" y="2179244"/>
            <a:ext cx="5996616" cy="350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8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57A32-C69B-4281-985E-A8C3F1A62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2900"/>
            <a:ext cx="5130185" cy="173789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Prolific Experiment</a:t>
            </a:r>
            <a:endParaRPr lang="en-IL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C5177-92FE-4199-9C66-4851D251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56" y="1962150"/>
            <a:ext cx="5774333" cy="46100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Around 300 participants into 4 groups: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Control</a:t>
            </a:r>
            <a:r>
              <a:rPr lang="en-US" sz="2400" dirty="0">
                <a:solidFill>
                  <a:schemeClr val="tx2"/>
                </a:solidFill>
              </a:rPr>
              <a:t> – no demonstration, only saying the agent was updated.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Random</a:t>
            </a:r>
            <a:r>
              <a:rPr lang="en-US" sz="2400" dirty="0">
                <a:solidFill>
                  <a:schemeClr val="tx2"/>
                </a:solidFill>
              </a:rPr>
              <a:t> -  demonstration on a board drawn uniformly at random from a pre-generated pool of 18 evaluation boards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Same</a:t>
            </a:r>
            <a:r>
              <a:rPr lang="en-US" sz="2400" dirty="0">
                <a:solidFill>
                  <a:schemeClr val="tx2"/>
                </a:solidFill>
              </a:rPr>
              <a:t> – demonstration on the same board on which feedback was given.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Salient-contrast</a:t>
            </a:r>
            <a:r>
              <a:rPr lang="en-US" sz="2400" dirty="0">
                <a:solidFill>
                  <a:schemeClr val="tx2"/>
                </a:solidFill>
              </a:rPr>
              <a:t>: Demonstration on a board that maximizes the score difference between the two policies.</a:t>
            </a:r>
          </a:p>
          <a:p>
            <a:endParaRPr lang="en-IL" sz="1800" dirty="0">
              <a:solidFill>
                <a:schemeClr val="tx2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81F22083-7858-C59C-44B4-D87701B63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Oval 2068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8AE70-F109-4C38-AAC8-5DC14176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783902" cy="1592369"/>
          </a:xfrm>
          <a:noFill/>
        </p:spPr>
        <p:txBody>
          <a:bodyPr anchor="t">
            <a:normAutofit fontScale="90000"/>
          </a:bodyPr>
          <a:lstStyle/>
          <a:p>
            <a:r>
              <a:rPr lang="en-US" sz="4900" dirty="0">
                <a:solidFill>
                  <a:schemeClr val="bg1"/>
                </a:solidFill>
              </a:rPr>
              <a:t>Results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Correct Choice</a:t>
            </a:r>
            <a:endParaRPr lang="en-IL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6B1B-EDD5-4B05-9214-7B891FD5D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176" y="610432"/>
            <a:ext cx="6788212" cy="1951087"/>
          </a:xfrm>
          <a:noFill/>
        </p:spPr>
        <p:txBody>
          <a:bodyPr anchor="t">
            <a:normAutofit/>
          </a:bodyPr>
          <a:lstStyle/>
          <a:p>
            <a:r>
              <a:rPr lang="en-US" sz="1800" u="sng" dirty="0">
                <a:solidFill>
                  <a:schemeClr val="bg1"/>
                </a:solidFill>
              </a:rPr>
              <a:t>Left: </a:t>
            </a:r>
            <a:r>
              <a:rPr lang="en-US" sz="1800" dirty="0">
                <a:solidFill>
                  <a:schemeClr val="bg1"/>
                </a:solidFill>
              </a:rPr>
              <a:t>The user chooses the agent that got the higher score on the same board as the feedback.</a:t>
            </a:r>
          </a:p>
          <a:p>
            <a:r>
              <a:rPr lang="en-US" sz="1800" u="sng" dirty="0">
                <a:solidFill>
                  <a:schemeClr val="bg1"/>
                </a:solidFill>
              </a:rPr>
              <a:t>Right: </a:t>
            </a:r>
            <a:r>
              <a:rPr lang="en-US" sz="1800" dirty="0">
                <a:solidFill>
                  <a:schemeClr val="bg1"/>
                </a:solidFill>
              </a:rPr>
              <a:t>The User chose the agent that got the higher score on the average of fixed boards.</a:t>
            </a:r>
            <a:endParaRPr lang="en-IL" sz="1800" dirty="0">
              <a:solidFill>
                <a:schemeClr val="bg1"/>
              </a:solidFill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1" name="Group 208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580F97-E7F8-44E4-91D3-CD633FFFA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3933" y="2691155"/>
            <a:ext cx="4946255" cy="373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4" name="Picture 6">
            <a:extLst>
              <a:ext uri="{FF2B5EF4-FFF2-40B4-BE49-F238E27FC236}">
                <a16:creationId xmlns:a16="http://schemas.microsoft.com/office/drawing/2014/main" id="{CB491A0D-26CD-4B72-A31D-A4F265967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709" y="2716141"/>
            <a:ext cx="4826768" cy="364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92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Oval 2068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8AE70-F109-4C38-AAC8-5DC14176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783902" cy="1592369"/>
          </a:xfrm>
          <a:noFill/>
        </p:spPr>
        <p:txBody>
          <a:bodyPr anchor="t">
            <a:normAutofit fontScale="90000"/>
          </a:bodyPr>
          <a:lstStyle/>
          <a:p>
            <a:r>
              <a:rPr lang="en-US" sz="4900" dirty="0">
                <a:solidFill>
                  <a:schemeClr val="bg1"/>
                </a:solidFill>
              </a:rPr>
              <a:t>Results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Correct Choice</a:t>
            </a:r>
            <a:endParaRPr lang="en-IL" sz="4800" dirty="0">
              <a:solidFill>
                <a:schemeClr val="bg1"/>
              </a:solidFill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1" name="Group 208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1C4A250-B958-49E4-97D8-957696058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485" y="2247313"/>
            <a:ext cx="4960197" cy="380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F3FEF42-73EC-4643-B3DD-82CE9CE7E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414" y="501666"/>
            <a:ext cx="6788212" cy="1951087"/>
          </a:xfrm>
          <a:noFill/>
        </p:spPr>
        <p:txBody>
          <a:bodyPr anchor="t">
            <a:normAutofit/>
          </a:bodyPr>
          <a:lstStyle/>
          <a:p>
            <a:r>
              <a:rPr lang="en-US" sz="1800" u="sng" dirty="0">
                <a:solidFill>
                  <a:schemeClr val="bg1"/>
                </a:solidFill>
              </a:rPr>
              <a:t>Left: </a:t>
            </a:r>
            <a:r>
              <a:rPr lang="en-US" sz="1800" dirty="0">
                <a:solidFill>
                  <a:schemeClr val="bg1"/>
                </a:solidFill>
              </a:rPr>
              <a:t>The user chooses the agent that got the higher score on the same board as the feedback.</a:t>
            </a:r>
          </a:p>
          <a:p>
            <a:r>
              <a:rPr lang="en-US" sz="1800" u="sng" dirty="0">
                <a:solidFill>
                  <a:schemeClr val="bg1"/>
                </a:solidFill>
              </a:rPr>
              <a:t>Right: </a:t>
            </a:r>
            <a:r>
              <a:rPr lang="en-US" sz="1800" dirty="0">
                <a:solidFill>
                  <a:schemeClr val="bg1"/>
                </a:solidFill>
              </a:rPr>
              <a:t>The User chose the agent that got the higher score on the average of fixed boards.</a:t>
            </a:r>
            <a:endParaRPr lang="en-IL" sz="1800" dirty="0">
              <a:solidFill>
                <a:schemeClr val="bg1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FA2217B-8BE9-49F3-BAE7-2B88D5D08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18" y="2247313"/>
            <a:ext cx="5022845" cy="384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44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Oval 2068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8AE70-F109-4C38-AAC8-5DC14176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783902" cy="1592369"/>
          </a:xfrm>
          <a:noFill/>
        </p:spPr>
        <p:txBody>
          <a:bodyPr anchor="t">
            <a:normAutofit/>
          </a:bodyPr>
          <a:lstStyle/>
          <a:p>
            <a:r>
              <a:rPr lang="en-US" sz="4900" dirty="0">
                <a:solidFill>
                  <a:schemeClr val="bg1"/>
                </a:solidFill>
              </a:rPr>
              <a:t>Results</a:t>
            </a:r>
            <a:r>
              <a:rPr lang="en-US" sz="4800" dirty="0">
                <a:solidFill>
                  <a:schemeClr val="bg1"/>
                </a:solidFill>
              </a:rPr>
              <a:t> - Trust</a:t>
            </a:r>
            <a:endParaRPr lang="en-IL" sz="4800" dirty="0">
              <a:solidFill>
                <a:schemeClr val="bg1"/>
              </a:solidFill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1" name="Group 208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562CAEAC-6E50-474D-9BD6-24599C91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481805"/>
            <a:ext cx="4824798" cy="367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2124D9B-C55E-43CE-B4C5-5D07478F1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442189"/>
              </p:ext>
            </p:extLst>
          </p:nvPr>
        </p:nvGraphicFramePr>
        <p:xfrm>
          <a:off x="6423328" y="2458079"/>
          <a:ext cx="4896603" cy="3662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Acrobat Document" r:id="rId4" imgW="1619126" imgH="1211261" progId="Acrobat.Document.DC">
                  <p:embed/>
                </p:oleObj>
              </mc:Choice>
              <mc:Fallback>
                <p:oleObj name="Acrobat Document" r:id="rId4" imgW="1619126" imgH="1211261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23328" y="2458079"/>
                        <a:ext cx="4896603" cy="3662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362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194</TotalTime>
  <Words>238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Adobe Acrobat Document</vt:lpstr>
      <vt:lpstr>Assessing Policy Updates: Toward Trust-Preserving Intelligent User Interfaces</vt:lpstr>
      <vt:lpstr>Research Questions</vt:lpstr>
      <vt:lpstr>Preference-Based Reinforcement Learning</vt:lpstr>
      <vt:lpstr>MiniGrid Environment</vt:lpstr>
      <vt:lpstr>Policy Demonstration</vt:lpstr>
      <vt:lpstr>Prolific Experiment</vt:lpstr>
      <vt:lpstr>Results Correct Choice</vt:lpstr>
      <vt:lpstr>Results Correct Choice</vt:lpstr>
      <vt:lpstr>Results -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Policy Updates: Toward Trust-Preserving Intelligent User Interfaces</dc:title>
  <dc:creator>matan solomon</dc:creator>
  <cp:lastModifiedBy>matan solomon</cp:lastModifiedBy>
  <cp:revision>8</cp:revision>
  <dcterms:created xsi:type="dcterms:W3CDTF">2025-10-26T14:11:27Z</dcterms:created>
  <dcterms:modified xsi:type="dcterms:W3CDTF">2025-10-26T17:26:08Z</dcterms:modified>
</cp:coreProperties>
</file>